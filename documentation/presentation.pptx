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7" r:id="rId2"/>
    <p:sldId id="280" r:id="rId3"/>
    <p:sldId id="259" r:id="rId4"/>
    <p:sldId id="281" r:id="rId5"/>
    <p:sldId id="271" r:id="rId6"/>
    <p:sldId id="300" r:id="rId7"/>
    <p:sldId id="282" r:id="rId8"/>
    <p:sldId id="283" r:id="rId9"/>
    <p:sldId id="289" r:id="rId10"/>
    <p:sldId id="285" r:id="rId11"/>
    <p:sldId id="284" r:id="rId12"/>
    <p:sldId id="290" r:id="rId13"/>
    <p:sldId id="291" r:id="rId14"/>
    <p:sldId id="292" r:id="rId15"/>
    <p:sldId id="293" r:id="rId16"/>
    <p:sldId id="294" r:id="rId17"/>
    <p:sldId id="295" r:id="rId18"/>
    <p:sldId id="296" r:id="rId19"/>
    <p:sldId id="297" r:id="rId20"/>
    <p:sldId id="301" r:id="rId21"/>
    <p:sldId id="302" r:id="rId22"/>
    <p:sldId id="303" r:id="rId23"/>
    <p:sldId id="288" r:id="rId24"/>
    <p:sldId id="298" r:id="rId25"/>
    <p:sldId id="299" r:id="rId26"/>
    <p:sldId id="286" r:id="rId27"/>
    <p:sldId id="268" r:id="rId2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78" y="11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4BFA67-384F-44A3-9CAF-95F92F169ABB}" type="datetimeFigureOut">
              <a:rPr lang="ru-RU" smtClean="0"/>
              <a:t>30.06.2026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C8FD61-4019-4581-94C0-29E70F45EE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2139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162C4-37D7-4349-9C5B-6674379EBFE0}" type="datetimeFigureOut">
              <a:rPr lang="ru-RU" smtClean="0"/>
              <a:t>30.06.2026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3BFEE-A7CD-4CD0-B312-B1D348E3E37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3966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162C4-37D7-4349-9C5B-6674379EBFE0}" type="datetimeFigureOut">
              <a:rPr lang="ru-RU" smtClean="0"/>
              <a:t>30.06.2026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3BFEE-A7CD-4CD0-B312-B1D348E3E37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9036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162C4-37D7-4349-9C5B-6674379EBFE0}" type="datetimeFigureOut">
              <a:rPr lang="ru-RU" smtClean="0"/>
              <a:t>30.06.2026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3BFEE-A7CD-4CD0-B312-B1D348E3E37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14933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162C4-37D7-4349-9C5B-6674379EBFE0}" type="datetimeFigureOut">
              <a:rPr lang="ru-RU" smtClean="0"/>
              <a:t>30.06.2026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3BFEE-A7CD-4CD0-B312-B1D348E3E37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479868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162C4-37D7-4349-9C5B-6674379EBFE0}" type="datetimeFigureOut">
              <a:rPr lang="ru-RU" smtClean="0"/>
              <a:t>30.06.2026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3BFEE-A7CD-4CD0-B312-B1D348E3E37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6208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162C4-37D7-4349-9C5B-6674379EBFE0}" type="datetimeFigureOut">
              <a:rPr lang="ru-RU" smtClean="0"/>
              <a:t>30.06.2026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3BFEE-A7CD-4CD0-B312-B1D348E3E37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81101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162C4-37D7-4349-9C5B-6674379EBFE0}" type="datetimeFigureOut">
              <a:rPr lang="ru-RU" smtClean="0"/>
              <a:t>30.06.2026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3BFEE-A7CD-4CD0-B312-B1D348E3E37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38689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162C4-37D7-4349-9C5B-6674379EBFE0}" type="datetimeFigureOut">
              <a:rPr lang="ru-RU" smtClean="0"/>
              <a:t>30.06.2026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3BFEE-A7CD-4CD0-B312-B1D348E3E37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91268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162C4-37D7-4349-9C5B-6674379EBFE0}" type="datetimeFigureOut">
              <a:rPr lang="ru-RU" smtClean="0"/>
              <a:t>30.06.2026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3BFEE-A7CD-4CD0-B312-B1D348E3E37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1867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162C4-37D7-4349-9C5B-6674379EBFE0}" type="datetimeFigureOut">
              <a:rPr lang="ru-RU" smtClean="0"/>
              <a:t>30.06.2026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3BFEE-A7CD-4CD0-B312-B1D348E3E37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340047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2162C4-37D7-4349-9C5B-6674379EBFE0}" type="datetimeFigureOut">
              <a:rPr lang="ru-RU" smtClean="0"/>
              <a:t>30.06.2026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C3BFEE-A7CD-4CD0-B312-B1D348E3E37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6510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2162C4-37D7-4349-9C5B-6674379EBFE0}" type="datetimeFigureOut">
              <a:rPr lang="ru-RU" smtClean="0"/>
              <a:t>30.06.2026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C3BFEE-A7CD-4CD0-B312-B1D348E3E37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963477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ctrTitle"/>
          </p:nvPr>
        </p:nvSpPr>
        <p:spPr>
          <a:xfrm>
            <a:off x="2209800" y="2276874"/>
            <a:ext cx="7772400" cy="936103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ПМ. 02 Осуществление интеграции программных модулей</a:t>
            </a:r>
          </a:p>
        </p:txBody>
      </p:sp>
      <p:sp>
        <p:nvSpPr>
          <p:cNvPr id="4" name="Подзаголовок 3"/>
          <p:cNvSpPr>
            <a:spLocks noGrp="1"/>
          </p:cNvSpPr>
          <p:nvPr>
            <p:ph type="subTitle" idx="1"/>
          </p:nvPr>
        </p:nvSpPr>
        <p:spPr>
          <a:xfrm>
            <a:off x="1934633" y="3617358"/>
            <a:ext cx="8466749" cy="792396"/>
          </a:xfrm>
        </p:spPr>
        <p:txBody>
          <a:bodyPr>
            <a:normAutofit/>
          </a:bodyPr>
          <a:lstStyle/>
          <a:p>
            <a:r>
              <a:rPr lang="ru-RU" sz="1800" b="1" dirty="0">
                <a:solidFill>
                  <a:schemeClr val="accent1">
                    <a:lumMod val="75000"/>
                  </a:schemeClr>
                </a:solidFill>
              </a:rPr>
              <a:t>Специальность 09.02.07  Информационные системы и программирование</a:t>
            </a:r>
          </a:p>
        </p:txBody>
      </p:sp>
      <p:grpSp>
        <p:nvGrpSpPr>
          <p:cNvPr id="2" name="Группа 1"/>
          <p:cNvGrpSpPr/>
          <p:nvPr/>
        </p:nvGrpSpPr>
        <p:grpSpPr>
          <a:xfrm>
            <a:off x="1847529" y="108069"/>
            <a:ext cx="8466749" cy="1462956"/>
            <a:chOff x="323528" y="108069"/>
            <a:chExt cx="8466749" cy="1462956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3528" y="108069"/>
              <a:ext cx="1872208" cy="14629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55776" y="476672"/>
              <a:ext cx="6234501" cy="7257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8" name="Прямоугольник 7"/>
          <p:cNvSpPr/>
          <p:nvPr/>
        </p:nvSpPr>
        <p:spPr>
          <a:xfrm>
            <a:off x="3719737" y="1804435"/>
            <a:ext cx="50137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chemeClr val="accent2"/>
                </a:solidFill>
              </a:rPr>
              <a:t>СДАЧА </a:t>
            </a:r>
            <a:r>
              <a:rPr lang="ru-RU" b="1" dirty="0" smtClean="0">
                <a:solidFill>
                  <a:schemeClr val="accent2"/>
                </a:solidFill>
              </a:rPr>
              <a:t>ПРОИЗВОДСТВЕННОЙ </a:t>
            </a:r>
            <a:r>
              <a:rPr lang="ru-RU" b="1" dirty="0">
                <a:solidFill>
                  <a:schemeClr val="accent2"/>
                </a:solidFill>
              </a:rPr>
              <a:t>ПРАКТИКИ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7148206" y="4512861"/>
            <a:ext cx="482453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Выполнили: Солдаткина А.А., Рыжова А. Э</a:t>
            </a:r>
            <a:r>
              <a:rPr lang="ru-RU" dirty="0" smtClean="0"/>
              <a:t>., </a:t>
            </a:r>
          </a:p>
          <a:p>
            <a:r>
              <a:rPr lang="ru-RU" dirty="0" err="1" smtClean="0"/>
              <a:t>Яхин</a:t>
            </a:r>
            <a:r>
              <a:rPr lang="ru-RU" dirty="0" smtClean="0"/>
              <a:t> Д. Р., Карапетян А. А.</a:t>
            </a:r>
            <a:endParaRPr lang="ru-RU" dirty="0"/>
          </a:p>
          <a:p>
            <a:r>
              <a:rPr lang="ru-RU" dirty="0"/>
              <a:t>группа 31П курс 3</a:t>
            </a:r>
          </a:p>
          <a:p>
            <a:r>
              <a:rPr lang="ru-RU" dirty="0"/>
              <a:t>Руководители: </a:t>
            </a:r>
          </a:p>
          <a:p>
            <a:r>
              <a:rPr lang="ru-RU" dirty="0" err="1"/>
              <a:t>Мамшева</a:t>
            </a:r>
            <a:r>
              <a:rPr lang="ru-RU" dirty="0"/>
              <a:t> Ю.С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5074911" y="6093297"/>
            <a:ext cx="19980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Нижний Новгород</a:t>
            </a:r>
          </a:p>
          <a:p>
            <a:pPr algn="ctr"/>
            <a:r>
              <a:rPr lang="ru-RU"/>
              <a:t>2026 </a:t>
            </a:r>
            <a:r>
              <a:rPr lang="ru-RU" dirty="0"/>
              <a:t>г.</a:t>
            </a:r>
          </a:p>
        </p:txBody>
      </p:sp>
    </p:spTree>
    <p:extLst>
      <p:ext uri="{BB962C8B-B14F-4D97-AF65-F5344CB8AC3E}">
        <p14:creationId xmlns:p14="http://schemas.microsoft.com/office/powerpoint/2010/main" val="1783220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513" y="182962"/>
            <a:ext cx="1224136" cy="957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3215680" y="274638"/>
            <a:ext cx="6995120" cy="634082"/>
          </a:xfrm>
        </p:spPr>
        <p:txBody>
          <a:bodyPr>
            <a:normAutofit/>
          </a:bodyPr>
          <a:lstStyle/>
          <a:p>
            <a:r>
              <a:rPr lang="ru-RU" sz="2800" b="1" dirty="0">
                <a:solidFill>
                  <a:schemeClr val="accent2"/>
                </a:solidFill>
              </a:rPr>
              <a:t>АКТУАЛЬНОСТЬ</a:t>
            </a:r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dirty="0"/>
              <a:t>Актуальность данной практики обусловлена тем, что в современном мире многие организации используют в своей работе различные цифровые технологии для улучшения качества своей работы и для минимизации рисков возникновения ошибок. Для этого требуется единое цифровое пространство, которое позволяет автоматизировать некоторые процессы и повысить эффективность работы</a:t>
            </a:r>
            <a:r>
              <a:rPr lang="ru-RU" dirty="0" smtClean="0"/>
              <a:t>. Практика позволит получить опыт работы с реальными задачами предприятий.</a:t>
            </a:r>
          </a:p>
        </p:txBody>
      </p:sp>
    </p:spTree>
    <p:extLst>
      <p:ext uri="{BB962C8B-B14F-4D97-AF65-F5344CB8AC3E}">
        <p14:creationId xmlns:p14="http://schemas.microsoft.com/office/powerpoint/2010/main" val="1108281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513" y="182962"/>
            <a:ext cx="1224136" cy="957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3215680" y="274638"/>
            <a:ext cx="6995120" cy="63408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800" b="1" dirty="0">
                <a:solidFill>
                  <a:schemeClr val="accent2"/>
                </a:solidFill>
              </a:rPr>
              <a:t>ЦЕЛЬ И ЗАДАЧИ</a:t>
            </a:r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400" dirty="0" smtClean="0"/>
              <a:t>Цель: Овладение </a:t>
            </a:r>
            <a:r>
              <a:rPr lang="ru-RU" sz="2400" dirty="0"/>
              <a:t>профессиональными и общими компетенциями, а так же получение практического опыта в сфере интеграции программных модулей и создании единой функциональной </a:t>
            </a:r>
            <a:r>
              <a:rPr lang="ru-RU" sz="2400" dirty="0" smtClean="0"/>
              <a:t>системы в условиях реальных задач.</a:t>
            </a:r>
            <a:endParaRPr lang="ru-RU" sz="2400" dirty="0"/>
          </a:p>
          <a:p>
            <a:pPr marL="0" indent="0" algn="just">
              <a:buNone/>
            </a:pPr>
            <a:r>
              <a:rPr lang="ru-RU" sz="2400" dirty="0"/>
              <a:t>Задачи:</a:t>
            </a:r>
          </a:p>
          <a:p>
            <a:pPr marL="0" indent="0" algn="just">
              <a:buNone/>
            </a:pPr>
            <a:r>
              <a:rPr lang="ru-RU" sz="2400" dirty="0"/>
              <a:t>1. Изучить теоретический материал.</a:t>
            </a:r>
          </a:p>
          <a:p>
            <a:pPr marL="0" indent="0" algn="just">
              <a:buNone/>
            </a:pPr>
            <a:r>
              <a:rPr lang="ru-RU" sz="2400" dirty="0"/>
              <a:t>2. Изучить основные принципы процесса разработки программного обеспечения; </a:t>
            </a:r>
          </a:p>
          <a:p>
            <a:pPr marL="0" indent="0" algn="just">
              <a:buNone/>
            </a:pPr>
            <a:r>
              <a:rPr lang="en-US" sz="2400" dirty="0"/>
              <a:t>3. </a:t>
            </a:r>
            <a:r>
              <a:rPr lang="ru-RU" sz="2400" dirty="0"/>
              <a:t>Использовать в своей деятельности систему контроля версий</a:t>
            </a:r>
          </a:p>
          <a:p>
            <a:pPr marL="0" indent="0" algn="just">
              <a:buNone/>
            </a:pPr>
            <a:r>
              <a:rPr lang="en-US" sz="2400" dirty="0"/>
              <a:t>4. </a:t>
            </a:r>
            <a:r>
              <a:rPr lang="ru-RU" sz="2400" dirty="0"/>
              <a:t>Провести полный цикл разработки продукта, от проектирования до реализации и тестирования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4221921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513" y="182962"/>
            <a:ext cx="1224136" cy="957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3503712" y="274638"/>
            <a:ext cx="6624736" cy="63408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ru-RU" sz="2800" b="1" dirty="0">
                <a:solidFill>
                  <a:schemeClr val="accent2"/>
                </a:solidFill>
              </a:rPr>
              <a:t>ОБЪЕКТ, ПРЕДМЕТ И МЕТОДЫ ИССЛЕДОВАНИЯ</a:t>
            </a:r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sz="2800" dirty="0"/>
              <a:t>Объект исследования: Процесс интеграции программных модулей в корпоративной информационной систем</a:t>
            </a:r>
          </a:p>
          <a:p>
            <a:pPr marL="0" indent="0" algn="just">
              <a:buNone/>
            </a:pPr>
            <a:r>
              <a:rPr lang="ru-RU" sz="2800" dirty="0"/>
              <a:t>Предмет исследования:  методы и средства интеграции программных модулей, а также процессы проектирования, разработки и тестирования системы</a:t>
            </a:r>
          </a:p>
          <a:p>
            <a:pPr marL="0" indent="0" algn="just">
              <a:buNone/>
            </a:pPr>
            <a:r>
              <a:rPr lang="ru-RU" sz="2800" dirty="0"/>
              <a:t>Методы исследования: теоретические (анализ, синтез, изучение) и эмпирические (наблюдение, сравнение, эксперимент).</a:t>
            </a:r>
          </a:p>
        </p:txBody>
      </p:sp>
    </p:spTree>
    <p:extLst>
      <p:ext uri="{BB962C8B-B14F-4D97-AF65-F5344CB8AC3E}">
        <p14:creationId xmlns:p14="http://schemas.microsoft.com/office/powerpoint/2010/main" val="1288528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513" y="182962"/>
            <a:ext cx="1224136" cy="957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3215680" y="274638"/>
            <a:ext cx="6995120" cy="63408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800" b="1" dirty="0" smtClean="0">
                <a:solidFill>
                  <a:schemeClr val="accent2"/>
                </a:solidFill>
              </a:rPr>
              <a:t>Предприятие и его анализ</a:t>
            </a:r>
            <a:endParaRPr lang="ru-RU" sz="2800" b="1" dirty="0">
              <a:solidFill>
                <a:schemeClr val="accent2"/>
              </a:solidFill>
            </a:endParaRPr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551384" y="1340768"/>
            <a:ext cx="6161856" cy="51845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Производственная практика проходила на базе нижегородской </a:t>
            </a:r>
            <a:r>
              <a:rPr lang="en-US" sz="2400" dirty="0"/>
              <a:t>IT</a:t>
            </a:r>
            <a:r>
              <a:rPr lang="ru-RU" sz="2400" dirty="0"/>
              <a:t>-компании ООО «</a:t>
            </a:r>
            <a:r>
              <a:rPr lang="ru-RU" sz="2400" dirty="0" err="1"/>
              <a:t>Айти</a:t>
            </a:r>
            <a:r>
              <a:rPr lang="ru-RU" sz="2400" dirty="0"/>
              <a:t> </a:t>
            </a:r>
            <a:r>
              <a:rPr lang="ru-RU" sz="2400" dirty="0" smtClean="0"/>
              <a:t>Партнер» («</a:t>
            </a:r>
            <a:r>
              <a:rPr lang="en-US" sz="2400" dirty="0"/>
              <a:t>IT</a:t>
            </a:r>
            <a:r>
              <a:rPr lang="ru-RU" sz="2400" dirty="0"/>
              <a:t>-</a:t>
            </a:r>
            <a:r>
              <a:rPr lang="en-US" sz="2400" dirty="0"/>
              <a:t>Rex</a:t>
            </a:r>
            <a:r>
              <a:rPr lang="ru-RU" sz="2400" dirty="0" smtClean="0"/>
              <a:t>»).</a:t>
            </a:r>
            <a:endParaRPr lang="ru-RU" sz="2400" dirty="0"/>
          </a:p>
          <a:p>
            <a:pPr marL="0" indent="0">
              <a:buNone/>
            </a:pPr>
            <a:r>
              <a:rPr lang="ru-RU" sz="2400" dirty="0"/>
              <a:t>IT REX - IT‑компания из Нижнего Новгорода, специализирующаяся на комплексной автоматизации бизнес‑процессов для предприятий разного масштаба. Компания помогает бизнесу внедрять цифровые решения, оптимизировать рабочие процессы и соответствовать требованиям </a:t>
            </a:r>
            <a:r>
              <a:rPr lang="ru-RU" sz="2400" dirty="0" smtClean="0"/>
              <a:t>законодательства.</a:t>
            </a:r>
            <a:endParaRPr lang="ru-RU" sz="2400" dirty="0">
              <a:effectLst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240" y="2780928"/>
            <a:ext cx="5184576" cy="1834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802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513" y="182962"/>
            <a:ext cx="1224136" cy="957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3215680" y="274638"/>
            <a:ext cx="6995120" cy="63408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800" b="1" dirty="0" smtClean="0">
                <a:solidFill>
                  <a:schemeClr val="accent2"/>
                </a:solidFill>
              </a:rPr>
              <a:t>Анализ и описание проекта</a:t>
            </a:r>
            <a:endParaRPr lang="ru-RU" sz="2800" b="1" dirty="0">
              <a:solidFill>
                <a:schemeClr val="accent2"/>
              </a:solidFill>
            </a:endParaRPr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551384" y="1340768"/>
            <a:ext cx="6480720" cy="50405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 err="1"/>
              <a:t>ITRexHelper</a:t>
            </a:r>
            <a:r>
              <a:rPr lang="ru-RU" sz="2400" dirty="0"/>
              <a:t> - это специализированный веб-сервис, который позволяет клиентам регистрироваться, оставлять заявки на оказание услуг, отслеживать их статус, общаться с поддержкой в чате и получать обратную связь. Для сотрудников и администраторов система предоставляет единое окно управления всеми заявками, инструменты для назначения исполнителей, смены статусов, ведения комментариев, а также аналитику</a:t>
            </a:r>
            <a:r>
              <a:rPr lang="ru-RU" sz="2400" dirty="0" smtClean="0"/>
              <a:t>.</a:t>
            </a:r>
          </a:p>
          <a:p>
            <a:pPr marL="0" indent="0">
              <a:buNone/>
            </a:pPr>
            <a:r>
              <a:rPr lang="ru-RU" sz="2400" dirty="0" smtClean="0">
                <a:effectLst/>
              </a:rPr>
              <a:t>На основе проведенного анализа было разработано техническое задание, которое содержит основные требования к системе.</a:t>
            </a:r>
            <a:endParaRPr lang="ru-RU" sz="2400" dirty="0">
              <a:effectLst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2104" y="2780928"/>
            <a:ext cx="4896544" cy="194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622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513" y="182962"/>
            <a:ext cx="1224136" cy="957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3071664" y="289391"/>
            <a:ext cx="6995120" cy="63408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800" b="1" dirty="0">
                <a:solidFill>
                  <a:schemeClr val="accent2"/>
                </a:solidFill>
              </a:rPr>
              <a:t>Модули системы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5440" y="1412776"/>
            <a:ext cx="957706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Для удобства проектирования и реализации системы, были выделены следующие модули:</a:t>
            </a:r>
          </a:p>
          <a:p>
            <a:endParaRPr lang="ru-RU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Модуль «Регистрация и авторизация</a:t>
            </a:r>
            <a:r>
              <a:rPr lang="ru-RU" dirty="0" smtClean="0"/>
              <a:t>»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Модуль «Создание и обработка заявок</a:t>
            </a:r>
            <a:r>
              <a:rPr lang="ru-RU" dirty="0" smtClean="0"/>
              <a:t>»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Модуль «Комментарии и уведомления</a:t>
            </a:r>
            <a:r>
              <a:rPr lang="ru-RU" dirty="0" smtClean="0"/>
              <a:t>»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Модуль «Интерфейс сотрудника / администратора</a:t>
            </a:r>
            <a:r>
              <a:rPr lang="ru-RU" dirty="0" smtClean="0"/>
              <a:t>»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Модуль «Аналитика и фильтрация</a:t>
            </a:r>
            <a:r>
              <a:rPr lang="ru-RU" dirty="0" smtClean="0"/>
              <a:t>»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Модуль «Дизайн интерфейса системы</a:t>
            </a:r>
            <a:r>
              <a:rPr lang="ru-RU" dirty="0" smtClean="0"/>
              <a:t>»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Модуль «База данных</a:t>
            </a:r>
            <a:r>
              <a:rPr lang="ru-RU" dirty="0" smtClean="0"/>
              <a:t>»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Модуль «Чат </a:t>
            </a:r>
            <a:r>
              <a:rPr lang="ru-RU" dirty="0" smtClean="0"/>
              <a:t>поддержки»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smtClean="0"/>
              <a:t>Модуль </a:t>
            </a:r>
            <a:r>
              <a:rPr lang="ru-RU" dirty="0"/>
              <a:t>«Работа с документами</a:t>
            </a:r>
            <a:r>
              <a:rPr lang="ru-RU" dirty="0" smtClean="0"/>
              <a:t>»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Модуль «Публикация и настройка сайта</a:t>
            </a:r>
            <a:r>
              <a:rPr lang="ru-RU" dirty="0" smtClean="0"/>
              <a:t>»</a:t>
            </a:r>
          </a:p>
          <a:p>
            <a:endParaRPr lang="ru-RU" dirty="0" smtClean="0"/>
          </a:p>
          <a:p>
            <a:r>
              <a:rPr lang="ru-RU" dirty="0" smtClean="0"/>
              <a:t>Реализация каждого модуля была разбита на 3 этапа: проектирование, разработка, тестирование. </a:t>
            </a:r>
          </a:p>
          <a:p>
            <a:r>
              <a:rPr lang="ru-RU" dirty="0" smtClean="0"/>
              <a:t>В каждом из модулей были распределены роли между всеми участниками.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24891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513" y="182962"/>
            <a:ext cx="1224136" cy="957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3215680" y="274638"/>
            <a:ext cx="6995120" cy="63408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800" b="1" dirty="0">
                <a:solidFill>
                  <a:schemeClr val="accent2"/>
                </a:solidFill>
              </a:rPr>
              <a:t>Плановая документация</a:t>
            </a:r>
          </a:p>
        </p:txBody>
      </p:sp>
      <p:sp>
        <p:nvSpPr>
          <p:cNvPr id="10" name="Заголовок 1"/>
          <p:cNvSpPr txBox="1">
            <a:spLocks/>
          </p:cNvSpPr>
          <p:nvPr/>
        </p:nvSpPr>
        <p:spPr>
          <a:xfrm>
            <a:off x="-2042120" y="5404675"/>
            <a:ext cx="10515600" cy="16734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использования</a:t>
            </a:r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4079776" y="5535612"/>
            <a:ext cx="10515600" cy="16734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классов</a:t>
            </a:r>
          </a:p>
        </p:txBody>
      </p:sp>
      <p:pic>
        <p:nvPicPr>
          <p:cNvPr id="9" name="Рисунок 8"/>
          <p:cNvPicPr/>
          <p:nvPr/>
        </p:nvPicPr>
        <p:blipFill>
          <a:blip r:embed="rId3"/>
          <a:stretch>
            <a:fillRect/>
          </a:stretch>
        </p:blipFill>
        <p:spPr>
          <a:xfrm>
            <a:off x="407368" y="1700808"/>
            <a:ext cx="5939790" cy="4110990"/>
          </a:xfrm>
          <a:prstGeom prst="rect">
            <a:avLst/>
          </a:prstGeom>
        </p:spPr>
      </p:pic>
      <p:pic>
        <p:nvPicPr>
          <p:cNvPr id="13" name="Рисунок 12"/>
          <p:cNvPicPr/>
          <p:nvPr/>
        </p:nvPicPr>
        <p:blipFill>
          <a:blip r:embed="rId4"/>
          <a:stretch>
            <a:fillRect/>
          </a:stretch>
        </p:blipFill>
        <p:spPr>
          <a:xfrm>
            <a:off x="7964252" y="1043386"/>
            <a:ext cx="2746647" cy="497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429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513" y="182962"/>
            <a:ext cx="1224136" cy="957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2927649" y="311549"/>
            <a:ext cx="6995120" cy="63408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800" b="1" dirty="0">
                <a:solidFill>
                  <a:schemeClr val="accent2"/>
                </a:solidFill>
              </a:rPr>
              <a:t>Плановая документация</a:t>
            </a:r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-2861183" y="4636100"/>
            <a:ext cx="10515600" cy="16734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компонентов</a:t>
            </a:r>
          </a:p>
        </p:txBody>
      </p:sp>
      <p:sp>
        <p:nvSpPr>
          <p:cNvPr id="13" name="Заголовок 1"/>
          <p:cNvSpPr txBox="1">
            <a:spLocks/>
          </p:cNvSpPr>
          <p:nvPr/>
        </p:nvSpPr>
        <p:spPr>
          <a:xfrm>
            <a:off x="3285035" y="4636099"/>
            <a:ext cx="10515600" cy="16734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развертывания</a:t>
            </a:r>
          </a:p>
        </p:txBody>
      </p:sp>
    </p:spTree>
    <p:extLst>
      <p:ext uri="{BB962C8B-B14F-4D97-AF65-F5344CB8AC3E}">
        <p14:creationId xmlns:p14="http://schemas.microsoft.com/office/powerpoint/2010/main" val="1530658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513" y="182962"/>
            <a:ext cx="1224136" cy="957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2927648" y="344569"/>
            <a:ext cx="6995120" cy="63408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800" b="1" dirty="0">
                <a:solidFill>
                  <a:schemeClr val="accent2"/>
                </a:solidFill>
              </a:rPr>
              <a:t>Разработка и создание базы данных</a:t>
            </a:r>
          </a:p>
        </p:txBody>
      </p:sp>
      <p:sp>
        <p:nvSpPr>
          <p:cNvPr id="10" name="Заголовок 1"/>
          <p:cNvSpPr txBox="1">
            <a:spLocks/>
          </p:cNvSpPr>
          <p:nvPr/>
        </p:nvSpPr>
        <p:spPr>
          <a:xfrm>
            <a:off x="3764738" y="4509120"/>
            <a:ext cx="10515600" cy="16734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</a:t>
            </a:r>
          </a:p>
        </p:txBody>
      </p:sp>
      <p:sp>
        <p:nvSpPr>
          <p:cNvPr id="12" name="Заголовок 1"/>
          <p:cNvSpPr txBox="1">
            <a:spLocks/>
          </p:cNvSpPr>
          <p:nvPr/>
        </p:nvSpPr>
        <p:spPr>
          <a:xfrm>
            <a:off x="-2330152" y="4591895"/>
            <a:ext cx="10515600" cy="16734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Реализация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ER-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диаграммы в БД</a:t>
            </a:r>
          </a:p>
        </p:txBody>
      </p:sp>
    </p:spTree>
    <p:extLst>
      <p:ext uri="{BB962C8B-B14F-4D97-AF65-F5344CB8AC3E}">
        <p14:creationId xmlns:p14="http://schemas.microsoft.com/office/powerpoint/2010/main" val="1100051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9496" y="147052"/>
            <a:ext cx="1224136" cy="957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2751094" y="272904"/>
            <a:ext cx="6995120" cy="63408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ru-RU" sz="2800" b="1" dirty="0">
                <a:solidFill>
                  <a:schemeClr val="accent2"/>
                </a:solidFill>
              </a:rPr>
              <a:t>Проектирование модуля «Авторизация и регистрация»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3645975" y="902694"/>
            <a:ext cx="446121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Диаграмма деятельности модуля «Авторизация/регистрация».</a:t>
            </a:r>
            <a:endParaRPr lang="ru-RU" dirty="0">
              <a:effectLst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8107187" y="1729828"/>
            <a:ext cx="4461212" cy="8788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Диаграмма состояний модуля «Авторизация/регистрация».</a:t>
            </a:r>
            <a:endParaRPr lang="ru-RU" dirty="0">
              <a:effectLst/>
            </a:endParaRPr>
          </a:p>
        </p:txBody>
      </p:sp>
      <p:sp>
        <p:nvSpPr>
          <p:cNvPr id="14" name="Прямоугольник 13"/>
          <p:cNvSpPr/>
          <p:nvPr/>
        </p:nvSpPr>
        <p:spPr>
          <a:xfrm>
            <a:off x="3768303" y="6027273"/>
            <a:ext cx="4461212" cy="8803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dirty="0"/>
              <a:t>Диаграмма коммуникации модуля «Авторизация/регистрация».</a:t>
            </a:r>
            <a:endParaRPr lang="ru-RU" dirty="0">
              <a:effectLst/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-240022" y="1189786"/>
            <a:ext cx="4461212" cy="12958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dirty="0"/>
              <a:t>Диаграмма последовательности </a:t>
            </a:r>
          </a:p>
          <a:p>
            <a:pPr algn="ctr">
              <a:lnSpc>
                <a:spcPct val="150000"/>
              </a:lnSpc>
            </a:pPr>
            <a:r>
              <a:rPr lang="ru-RU" dirty="0"/>
              <a:t>модуля «Авторизация/</a:t>
            </a:r>
          </a:p>
          <a:p>
            <a:pPr algn="ctr">
              <a:lnSpc>
                <a:spcPct val="150000"/>
              </a:lnSpc>
            </a:pPr>
            <a:r>
              <a:rPr lang="ru-RU" dirty="0"/>
              <a:t>регистрация».</a:t>
            </a:r>
            <a:endParaRPr lang="ru-RU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865213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513" y="182962"/>
            <a:ext cx="1224136" cy="957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2910346" y="419617"/>
            <a:ext cx="6995120" cy="63408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ru-RU" sz="2800" b="1" dirty="0">
                <a:solidFill>
                  <a:schemeClr val="accent2"/>
                </a:solidFill>
              </a:rPr>
              <a:t>Разработка модуля «Авторизация и регистрация»</a:t>
            </a:r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-2212338" y="529759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 Авторизации</a:t>
            </a:r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3657956" y="527767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 регистрации</a:t>
            </a:r>
          </a:p>
        </p:txBody>
      </p:sp>
    </p:spTree>
    <p:extLst>
      <p:ext uri="{BB962C8B-B14F-4D97-AF65-F5344CB8AC3E}">
        <p14:creationId xmlns:p14="http://schemas.microsoft.com/office/powerpoint/2010/main" val="529250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513" y="182962"/>
            <a:ext cx="1224136" cy="957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2974242" y="330983"/>
            <a:ext cx="6995120" cy="63408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ru-RU" sz="2800" b="1" dirty="0">
                <a:solidFill>
                  <a:schemeClr val="accent2"/>
                </a:solidFill>
              </a:rPr>
              <a:t>Тестирование модуля «Авторизация и регистрация»</a:t>
            </a:r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6690862" y="2723921"/>
            <a:ext cx="509017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 Юнит-тестирования</a:t>
            </a:r>
          </a:p>
        </p:txBody>
      </p:sp>
      <p:sp>
        <p:nvSpPr>
          <p:cNvPr id="10" name="Заголовок 1"/>
          <p:cNvSpPr txBox="1">
            <a:spLocks/>
          </p:cNvSpPr>
          <p:nvPr/>
        </p:nvSpPr>
        <p:spPr>
          <a:xfrm>
            <a:off x="263352" y="1556792"/>
            <a:ext cx="6208450" cy="26347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тестирования была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разработана тестовая документация, которая включает в себя: чек-лист, тест-план и тест-кейсы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Было проведено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27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тестов, по результатам, которым было выявлено соответствие требованиям.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 же, для улучшения качества и эффективности процесса тестирования, были разработаны и созданы юнит-тесты, которые автоматизируют процесс тестирования модуля. Для данного модуля было разработано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24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юнит-тестов.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2056542" y="4452187"/>
            <a:ext cx="8464716" cy="221086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test_user_appears_in_database_after_registration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"""</a:t>
            </a:r>
            <a:r>
              <a:rPr lang="ru-RU" dirty="0">
                <a:solidFill>
                  <a:srgbClr val="CE9178"/>
                </a:solidFill>
                <a:latin typeface="Consolas" panose="020B0609020204030204" pitchFamily="49" charset="0"/>
              </a:rPr>
              <a:t>Пользователь появляется в БД после регистрации"""</a:t>
            </a:r>
            <a:endParaRPr lang="ru-RU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response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client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post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reverse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'register'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), 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registration_payload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())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assertEqual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response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status_code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</a:rPr>
              <a:t>302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assertTrue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4EC9B0"/>
                </a:solidFill>
                <a:latin typeface="Consolas" panose="020B0609020204030204" pitchFamily="49" charset="0"/>
              </a:rPr>
              <a:t>User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</a:rPr>
              <a:t>objects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</a:rPr>
              <a:t>filter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</a:rPr>
              <a:t>email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</a:rPr>
              <a:t>'new@example.com'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).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</a:rPr>
              <a:t>exists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</a:rPr>
              <a:t>())</a:t>
            </a: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4460" y="1843151"/>
            <a:ext cx="5115639" cy="133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832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513" y="182962"/>
            <a:ext cx="1224136" cy="957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2960970" y="344569"/>
            <a:ext cx="7095469" cy="88752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ru-RU" sz="2800" b="1" dirty="0">
                <a:solidFill>
                  <a:schemeClr val="accent2"/>
                </a:solidFill>
              </a:rPr>
              <a:t>Проектирование </a:t>
            </a:r>
            <a:r>
              <a:rPr lang="ru-RU" sz="2800" b="1" dirty="0" smtClean="0">
                <a:solidFill>
                  <a:schemeClr val="accent2"/>
                </a:solidFill>
              </a:rPr>
              <a:t>«Дизайн интерфейса системы»</a:t>
            </a:r>
            <a:endParaRPr lang="ru-RU" sz="2800" b="1" dirty="0">
              <a:solidFill>
                <a:schemeClr val="accent2"/>
              </a:solidFill>
            </a:endParaRPr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-170355" y="4167252"/>
            <a:ext cx="364459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Страница </a:t>
            </a:r>
          </a:p>
          <a:p>
            <a:pPr algn="ctr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Заявок сотрудника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8831925" y="4404262"/>
            <a:ext cx="374244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Главная страница</a:t>
            </a:r>
          </a:p>
          <a:p>
            <a:pPr algn="ctr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пользователя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Заголовок 1"/>
          <p:cNvSpPr txBox="1">
            <a:spLocks/>
          </p:cNvSpPr>
          <p:nvPr/>
        </p:nvSpPr>
        <p:spPr>
          <a:xfrm>
            <a:off x="3383625" y="1407550"/>
            <a:ext cx="364459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Страница </a:t>
            </a: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Авторизации</a:t>
            </a:r>
          </a:p>
        </p:txBody>
      </p:sp>
      <p:sp>
        <p:nvSpPr>
          <p:cNvPr id="14" name="Заголовок 1"/>
          <p:cNvSpPr txBox="1">
            <a:spLocks/>
          </p:cNvSpPr>
          <p:nvPr/>
        </p:nvSpPr>
        <p:spPr>
          <a:xfrm>
            <a:off x="5368069" y="1408614"/>
            <a:ext cx="364459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Главная </a:t>
            </a:r>
          </a:p>
          <a:p>
            <a:pPr algn="ctr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Страница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сотрудника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Рисунок 1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381" y="1233155"/>
            <a:ext cx="2919957" cy="2505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Рисунок 1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0363" y="1140259"/>
            <a:ext cx="2976238" cy="2653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Рисунок 17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7649" y="3912748"/>
            <a:ext cx="3049363" cy="2730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Рисунок 18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2064" y="3917927"/>
            <a:ext cx="2971853" cy="26435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489972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513" y="182962"/>
            <a:ext cx="1224136" cy="957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3143672" y="389881"/>
            <a:ext cx="6995120" cy="63408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ru-RU" sz="2800" b="1" dirty="0">
                <a:solidFill>
                  <a:schemeClr val="accent2"/>
                </a:solidFill>
              </a:rPr>
              <a:t>Разработка модуля «Интерфейса пользователя»</a:t>
            </a:r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1518101" y="1354382"/>
            <a:ext cx="364459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Реализованная</a:t>
            </a:r>
          </a:p>
          <a:p>
            <a:pPr algn="ctr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Главная страница администратора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7104112" y="1354382"/>
            <a:ext cx="374244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Реализованная страница заявок</a:t>
            </a:r>
          </a:p>
          <a:p>
            <a:pPr algn="ctr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администратора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Рисунок 12"/>
          <p:cNvPicPr/>
          <p:nvPr/>
        </p:nvPicPr>
        <p:blipFill>
          <a:blip r:embed="rId3"/>
          <a:stretch>
            <a:fillRect/>
          </a:stretch>
        </p:blipFill>
        <p:spPr>
          <a:xfrm>
            <a:off x="595558" y="2662376"/>
            <a:ext cx="5096227" cy="3357495"/>
          </a:xfrm>
          <a:prstGeom prst="rect">
            <a:avLst/>
          </a:prstGeom>
        </p:spPr>
      </p:pic>
      <p:pic>
        <p:nvPicPr>
          <p:cNvPr id="14" name="Рисунок 13"/>
          <p:cNvPicPr/>
          <p:nvPr/>
        </p:nvPicPr>
        <p:blipFill>
          <a:blip r:embed="rId4"/>
          <a:stretch>
            <a:fillRect/>
          </a:stretch>
        </p:blipFill>
        <p:spPr>
          <a:xfrm>
            <a:off x="6641232" y="2662376"/>
            <a:ext cx="5117483" cy="3284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5773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513" y="182962"/>
            <a:ext cx="1224136" cy="957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3215680" y="274638"/>
            <a:ext cx="6995120" cy="63408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ru-RU" sz="2800" b="1" dirty="0">
                <a:solidFill>
                  <a:schemeClr val="accent2"/>
                </a:solidFill>
              </a:rPr>
              <a:t>Тестирование модуля «Интерфейса пользователя»</a:t>
            </a:r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7032104" y="3068960"/>
            <a:ext cx="486511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Было проведено 20 юнит-тестов для Интерфейса пользователя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ручное тестирование. 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целом Интерфейс Пользователя готов к эксплуатации и соответствует предъявляемым требованиям.</a:t>
            </a:r>
          </a:p>
        </p:txBody>
      </p:sp>
      <p:pic>
        <p:nvPicPr>
          <p:cNvPr id="12" name="Рисунок 11"/>
          <p:cNvPicPr/>
          <p:nvPr/>
        </p:nvPicPr>
        <p:blipFill>
          <a:blip r:embed="rId3"/>
          <a:stretch>
            <a:fillRect/>
          </a:stretch>
        </p:blipFill>
        <p:spPr>
          <a:xfrm>
            <a:off x="264724" y="1637034"/>
            <a:ext cx="6594660" cy="4495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30382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513" y="182962"/>
            <a:ext cx="1224136" cy="957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3215680" y="274638"/>
            <a:ext cx="6995120" cy="63408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ru-RU" sz="2800" b="1" dirty="0">
                <a:solidFill>
                  <a:schemeClr val="accent2"/>
                </a:solidFill>
              </a:rPr>
              <a:t>Проектирование </a:t>
            </a:r>
            <a:r>
              <a:rPr lang="ru-RU" sz="2800" b="1" dirty="0" smtClean="0">
                <a:solidFill>
                  <a:schemeClr val="accent2"/>
                </a:solidFill>
              </a:rPr>
              <a:t>модуля «Интерфейс администратора»</a:t>
            </a:r>
            <a:endParaRPr lang="ru-RU" sz="2800" b="1" dirty="0">
              <a:solidFill>
                <a:schemeClr val="accent2"/>
              </a:solidFill>
            </a:endParaRPr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3386075" y="4850211"/>
            <a:ext cx="249593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</a:t>
            </a: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последовательности</a:t>
            </a:r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135416" y="4964495"/>
            <a:ext cx="2833721" cy="10969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</a:t>
            </a: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деятельности</a:t>
            </a:r>
          </a:p>
        </p:txBody>
      </p:sp>
      <p:sp>
        <p:nvSpPr>
          <p:cNvPr id="14" name="Заголовок 1"/>
          <p:cNvSpPr txBox="1">
            <a:spLocks/>
          </p:cNvSpPr>
          <p:nvPr/>
        </p:nvSpPr>
        <p:spPr>
          <a:xfrm>
            <a:off x="8806048" y="4850212"/>
            <a:ext cx="360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</a:t>
            </a: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состояний</a:t>
            </a:r>
          </a:p>
        </p:txBody>
      </p:sp>
      <p:pic>
        <p:nvPicPr>
          <p:cNvPr id="15" name="Рисунок 14"/>
          <p:cNvPicPr/>
          <p:nvPr/>
        </p:nvPicPr>
        <p:blipFill>
          <a:blip r:embed="rId3"/>
          <a:stretch>
            <a:fillRect/>
          </a:stretch>
        </p:blipFill>
        <p:spPr>
          <a:xfrm>
            <a:off x="278727" y="1797517"/>
            <a:ext cx="2812009" cy="2940283"/>
          </a:xfrm>
          <a:prstGeom prst="rect">
            <a:avLst/>
          </a:prstGeom>
        </p:spPr>
      </p:pic>
      <p:pic>
        <p:nvPicPr>
          <p:cNvPr id="16" name="Рисунок 15"/>
          <p:cNvPicPr/>
          <p:nvPr/>
        </p:nvPicPr>
        <p:blipFill>
          <a:blip r:embed="rId4"/>
          <a:stretch>
            <a:fillRect/>
          </a:stretch>
        </p:blipFill>
        <p:spPr>
          <a:xfrm>
            <a:off x="3642548" y="1592634"/>
            <a:ext cx="1761002" cy="3382005"/>
          </a:xfrm>
          <a:prstGeom prst="rect">
            <a:avLst/>
          </a:prstGeom>
        </p:spPr>
      </p:pic>
      <p:pic>
        <p:nvPicPr>
          <p:cNvPr id="17" name="Рисунок 16"/>
          <p:cNvPicPr/>
          <p:nvPr/>
        </p:nvPicPr>
        <p:blipFill>
          <a:blip r:embed="rId5"/>
          <a:stretch>
            <a:fillRect/>
          </a:stretch>
        </p:blipFill>
        <p:spPr>
          <a:xfrm>
            <a:off x="5678893" y="2438442"/>
            <a:ext cx="3408569" cy="1631770"/>
          </a:xfrm>
          <a:prstGeom prst="rect">
            <a:avLst/>
          </a:prstGeom>
        </p:spPr>
      </p:pic>
      <p:pic>
        <p:nvPicPr>
          <p:cNvPr id="18" name="Рисунок 17"/>
          <p:cNvPicPr/>
          <p:nvPr/>
        </p:nvPicPr>
        <p:blipFill>
          <a:blip r:embed="rId6"/>
          <a:stretch>
            <a:fillRect/>
          </a:stretch>
        </p:blipFill>
        <p:spPr>
          <a:xfrm>
            <a:off x="9362805" y="1613202"/>
            <a:ext cx="2573320" cy="3166169"/>
          </a:xfrm>
          <a:prstGeom prst="rect">
            <a:avLst/>
          </a:prstGeom>
        </p:spPr>
      </p:pic>
      <p:sp>
        <p:nvSpPr>
          <p:cNvPr id="20" name="Заголовок 1"/>
          <p:cNvSpPr txBox="1">
            <a:spLocks/>
          </p:cNvSpPr>
          <p:nvPr/>
        </p:nvSpPr>
        <p:spPr>
          <a:xfrm>
            <a:off x="6200829" y="4941356"/>
            <a:ext cx="2329665" cy="10969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</a:t>
            </a:r>
          </a:p>
          <a:p>
            <a:pPr algn="ctr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коммуникации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25996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513" y="182962"/>
            <a:ext cx="1224136" cy="957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3215680" y="274638"/>
            <a:ext cx="6995120" cy="63408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ru-RU" sz="2800" b="1" dirty="0" smtClean="0">
                <a:solidFill>
                  <a:schemeClr val="accent2"/>
                </a:solidFill>
              </a:rPr>
              <a:t>Разработка </a:t>
            </a:r>
            <a:r>
              <a:rPr lang="ru-RU" sz="2800" b="1" dirty="0">
                <a:solidFill>
                  <a:schemeClr val="accent2"/>
                </a:solidFill>
              </a:rPr>
              <a:t>модуля «Интерфейс администратора»</a:t>
            </a:r>
            <a:endParaRPr lang="ru-RU" sz="2800" b="1" dirty="0">
              <a:solidFill>
                <a:schemeClr val="accent2"/>
              </a:solidFill>
            </a:endParaRPr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0" y="3472478"/>
            <a:ext cx="461907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Просмотр и изменение</a:t>
            </a:r>
          </a:p>
          <a:p>
            <a:pPr algn="ctr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данных заявки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Рисунок 11"/>
          <p:cNvPicPr/>
          <p:nvPr/>
        </p:nvPicPr>
        <p:blipFill>
          <a:blip r:embed="rId3"/>
          <a:stretch>
            <a:fillRect/>
          </a:stretch>
        </p:blipFill>
        <p:spPr>
          <a:xfrm>
            <a:off x="843552" y="1294332"/>
            <a:ext cx="3020200" cy="2455316"/>
          </a:xfrm>
          <a:prstGeom prst="rect">
            <a:avLst/>
          </a:prstGeom>
        </p:spPr>
      </p:pic>
      <p:pic>
        <p:nvPicPr>
          <p:cNvPr id="13" name="Рисунок 12"/>
          <p:cNvPicPr/>
          <p:nvPr/>
        </p:nvPicPr>
        <p:blipFill>
          <a:blip r:embed="rId4"/>
          <a:stretch>
            <a:fillRect/>
          </a:stretch>
        </p:blipFill>
        <p:spPr>
          <a:xfrm>
            <a:off x="7771969" y="1287898"/>
            <a:ext cx="4037240" cy="2493515"/>
          </a:xfrm>
          <a:prstGeom prst="rect">
            <a:avLst/>
          </a:prstGeom>
        </p:spPr>
      </p:pic>
      <p:pic>
        <p:nvPicPr>
          <p:cNvPr id="14" name="Рисунок 13"/>
          <p:cNvPicPr/>
          <p:nvPr/>
        </p:nvPicPr>
        <p:blipFill>
          <a:blip r:embed="rId5"/>
          <a:stretch>
            <a:fillRect/>
          </a:stretch>
        </p:blipFill>
        <p:spPr>
          <a:xfrm>
            <a:off x="3863752" y="4135259"/>
            <a:ext cx="3936033" cy="2617441"/>
          </a:xfrm>
          <a:prstGeom prst="rect">
            <a:avLst/>
          </a:prstGeom>
        </p:spPr>
      </p:pic>
      <p:sp>
        <p:nvSpPr>
          <p:cNvPr id="15" name="Заголовок 1"/>
          <p:cNvSpPr txBox="1">
            <a:spLocks/>
          </p:cNvSpPr>
          <p:nvPr/>
        </p:nvSpPr>
        <p:spPr>
          <a:xfrm>
            <a:off x="7532899" y="3498024"/>
            <a:ext cx="461907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Просмотр и изменение</a:t>
            </a:r>
          </a:p>
          <a:p>
            <a:pPr algn="ctr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данных пользователя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Заголовок 1"/>
          <p:cNvSpPr txBox="1">
            <a:spLocks/>
          </p:cNvSpPr>
          <p:nvPr/>
        </p:nvSpPr>
        <p:spPr>
          <a:xfrm>
            <a:off x="3542499" y="3086866"/>
            <a:ext cx="461907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Просмотр всех пользователей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73972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513" y="182962"/>
            <a:ext cx="1224136" cy="957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3215680" y="274638"/>
            <a:ext cx="6995120" cy="63408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ru-RU" sz="2800" b="1" dirty="0">
                <a:solidFill>
                  <a:schemeClr val="accent2"/>
                </a:solidFill>
              </a:rPr>
              <a:t>Тестирование модуля «Интерфейс администратора»</a:t>
            </a:r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6805645" y="2908063"/>
            <a:ext cx="509017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 Юнит-тестирования</a:t>
            </a:r>
          </a:p>
        </p:txBody>
      </p:sp>
      <p:pic>
        <p:nvPicPr>
          <p:cNvPr id="9" name="Рисунок 8"/>
          <p:cNvPicPr/>
          <p:nvPr/>
        </p:nvPicPr>
        <p:blipFill>
          <a:blip r:embed="rId3"/>
          <a:stretch>
            <a:fillRect/>
          </a:stretch>
        </p:blipFill>
        <p:spPr>
          <a:xfrm>
            <a:off x="7104112" y="2028016"/>
            <a:ext cx="4791710" cy="1076325"/>
          </a:xfrm>
          <a:prstGeom prst="rect">
            <a:avLst/>
          </a:prstGeom>
        </p:spPr>
      </p:pic>
      <p:sp>
        <p:nvSpPr>
          <p:cNvPr id="10" name="Заголовок 1"/>
          <p:cNvSpPr txBox="1">
            <a:spLocks/>
          </p:cNvSpPr>
          <p:nvPr/>
        </p:nvSpPr>
        <p:spPr>
          <a:xfrm>
            <a:off x="378135" y="1150349"/>
            <a:ext cx="6208450" cy="34859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тестирования была протестирована не только функциональная часть модуля, но и внешняя составляющая, которая должна соответствовать общей стилистике системы.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Было проведено 19 тестов, по результатам, которым было выявлено соответствие требованиям.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 же, для улучшения качества и эффективности процесса тестирования, были разработаны и созданы юнит-тесты, которые автоматизируют процесс тестирования модуля. Для данного модуля было разработано 20 юнит-тестов.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1043154" y="4636329"/>
            <a:ext cx="10257905" cy="206723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spcAft>
                <a:spcPts val="0"/>
              </a:spcAft>
            </a:pP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test_admin_can_add_question_to_database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ru-RU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post_json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endParaRPr lang="ru-RU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    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admin_client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api_question_add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question_payload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endParaRPr lang="ru-RU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        </a:t>
            </a:r>
            <a:r>
              <a:rPr lang="ru-RU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r>
              <a:rPr lang="ru-RU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ru-RU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'Тестовый вопрос ПДД?'</a:t>
            </a: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ru-RU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    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endParaRPr lang="ru-RU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)</a:t>
            </a:r>
            <a:endParaRPr lang="ru-RU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assertEqual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response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status_code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solidFill>
                  <a:srgbClr val="B5CEA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200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assertTrue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endParaRPr lang="ru-RU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    </a:t>
            </a:r>
            <a:r>
              <a:rPr lang="en-US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Bank_questions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objects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filter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question_text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ru-RU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Тестовый вопрос ПДД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?'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r>
              <a:rPr lang="en-US" dirty="0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exists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ru-RU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)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34236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513" y="182962"/>
            <a:ext cx="1224136" cy="957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3215680" y="274638"/>
            <a:ext cx="6995120" cy="63408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ru-RU" sz="2800" b="1" dirty="0">
                <a:solidFill>
                  <a:schemeClr val="accent2"/>
                </a:solidFill>
              </a:rPr>
              <a:t>Проектирование </a:t>
            </a:r>
            <a:r>
              <a:rPr lang="ru-RU" sz="2800" b="1" dirty="0" smtClean="0">
                <a:solidFill>
                  <a:schemeClr val="accent2"/>
                </a:solidFill>
              </a:rPr>
              <a:t>модуля «</a:t>
            </a:r>
            <a:r>
              <a:rPr lang="ru-RU" sz="2800" b="1" dirty="0" smtClean="0">
                <a:solidFill>
                  <a:schemeClr val="accent2"/>
                </a:solidFill>
              </a:rPr>
              <a:t>Работа с документами</a:t>
            </a:r>
            <a:r>
              <a:rPr lang="ru-RU" sz="2800" b="1" dirty="0" smtClean="0">
                <a:solidFill>
                  <a:schemeClr val="accent2"/>
                </a:solidFill>
              </a:rPr>
              <a:t>»</a:t>
            </a:r>
            <a:endParaRPr lang="ru-RU" sz="2800" b="1" dirty="0">
              <a:solidFill>
                <a:schemeClr val="accent2"/>
              </a:solidFill>
            </a:endParaRPr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3386075" y="4850211"/>
            <a:ext cx="249593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</a:t>
            </a: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последовательности</a:t>
            </a:r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135416" y="4964495"/>
            <a:ext cx="2833721" cy="10969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</a:t>
            </a: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деятельности</a:t>
            </a:r>
          </a:p>
        </p:txBody>
      </p:sp>
      <p:sp>
        <p:nvSpPr>
          <p:cNvPr id="14" name="Заголовок 1"/>
          <p:cNvSpPr txBox="1">
            <a:spLocks/>
          </p:cNvSpPr>
          <p:nvPr/>
        </p:nvSpPr>
        <p:spPr>
          <a:xfrm>
            <a:off x="8806048" y="4850212"/>
            <a:ext cx="360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</a:t>
            </a: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состояний</a:t>
            </a:r>
          </a:p>
        </p:txBody>
      </p:sp>
      <p:sp>
        <p:nvSpPr>
          <p:cNvPr id="20" name="Заголовок 1"/>
          <p:cNvSpPr txBox="1">
            <a:spLocks/>
          </p:cNvSpPr>
          <p:nvPr/>
        </p:nvSpPr>
        <p:spPr>
          <a:xfrm>
            <a:off x="6200829" y="4941356"/>
            <a:ext cx="2329665" cy="10969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</a:t>
            </a:r>
          </a:p>
          <a:p>
            <a:pPr algn="ctr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коммуникации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01329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513" y="182962"/>
            <a:ext cx="1224136" cy="957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3215680" y="274638"/>
            <a:ext cx="6995120" cy="63408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ru-RU" sz="2800" b="1" dirty="0" smtClean="0">
                <a:solidFill>
                  <a:schemeClr val="accent2"/>
                </a:solidFill>
              </a:rPr>
              <a:t>Разработка </a:t>
            </a:r>
            <a:r>
              <a:rPr lang="ru-RU" sz="2800" b="1" dirty="0">
                <a:solidFill>
                  <a:schemeClr val="accent2"/>
                </a:solidFill>
              </a:rPr>
              <a:t>модуля </a:t>
            </a:r>
            <a:r>
              <a:rPr lang="ru-RU" sz="2800" b="1" dirty="0" smtClean="0">
                <a:solidFill>
                  <a:schemeClr val="accent2"/>
                </a:solidFill>
              </a:rPr>
              <a:t>«</a:t>
            </a:r>
            <a:r>
              <a:rPr lang="ru-RU" sz="2800" b="1" dirty="0">
                <a:solidFill>
                  <a:schemeClr val="accent2"/>
                </a:solidFill>
              </a:rPr>
              <a:t>Работа с документами</a:t>
            </a:r>
            <a:r>
              <a:rPr lang="ru-RU" sz="2800" b="1" dirty="0" smtClean="0">
                <a:solidFill>
                  <a:schemeClr val="accent2"/>
                </a:solidFill>
              </a:rPr>
              <a:t>»</a:t>
            </a:r>
            <a:endParaRPr lang="ru-RU" sz="28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04309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513" y="182962"/>
            <a:ext cx="1224136" cy="957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3215680" y="274638"/>
            <a:ext cx="6995120" cy="63408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ru-RU" sz="2800" b="1" dirty="0">
                <a:solidFill>
                  <a:schemeClr val="accent2"/>
                </a:solidFill>
              </a:rPr>
              <a:t>Тестирование модуля </a:t>
            </a:r>
            <a:r>
              <a:rPr lang="ru-RU" sz="2800" b="1" dirty="0">
                <a:solidFill>
                  <a:schemeClr val="accent2"/>
                </a:solidFill>
              </a:rPr>
              <a:t>«Работа с документами»</a:t>
            </a:r>
            <a:endParaRPr lang="ru-RU" sz="2800" b="1" dirty="0">
              <a:solidFill>
                <a:schemeClr val="accent2"/>
              </a:solidFill>
            </a:endParaRPr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6805645" y="2908063"/>
            <a:ext cx="509017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 Юнит-тестирования</a:t>
            </a:r>
          </a:p>
        </p:txBody>
      </p:sp>
      <p:sp>
        <p:nvSpPr>
          <p:cNvPr id="10" name="Заголовок 1"/>
          <p:cNvSpPr txBox="1">
            <a:spLocks/>
          </p:cNvSpPr>
          <p:nvPr/>
        </p:nvSpPr>
        <p:spPr>
          <a:xfrm>
            <a:off x="378135" y="1150349"/>
            <a:ext cx="6208450" cy="34859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Модуль обеспечивает генерацию документов и отчетов в системе. Для данного модуля была разработана вся тестовая документация.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Было проведено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17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тестов, по результатам, которым было выявлено соответствие требованиям.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 же, для улучшения качества и эффективности процесса тестирования, были разработаны и созданы юнит-тесты, которые автоматизируют процесс тестирования модуля. Для данного модуля было разработано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23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юнит-тестов.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1043154" y="4636329"/>
            <a:ext cx="10257905" cy="190340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US" dirty="0" err="1">
                <a:solidFill>
                  <a:srgbClr val="569CD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test_collect_contract_context_client_contact_from_contact_info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ru-RU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ticket_with_contact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Ticket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objects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create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endParaRPr lang="ru-RU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   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author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client_user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   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ru-RU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Заявка с контактом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   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ru-RU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Тест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   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Ticket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4EC9B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Status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4FC1FF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CLOSED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    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contact_info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'+79998887766'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ru-RU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)</a:t>
            </a:r>
            <a:endParaRPr lang="ru-RU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context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collect_contract_context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ticket_with_contact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 err="1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DCDC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assertEqual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9CDCFE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context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dirty="0" err="1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client_contact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], </a:t>
            </a:r>
            <a:r>
              <a:rPr lang="en-US" dirty="0">
                <a:solidFill>
                  <a:srgbClr val="CE9178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'+79998887766'</a:t>
            </a:r>
            <a:r>
              <a:rPr lang="en-US" dirty="0">
                <a:solidFill>
                  <a:srgbClr val="CCCCCC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5645" y="1898733"/>
            <a:ext cx="5134353" cy="1213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0885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513" y="182962"/>
            <a:ext cx="1224136" cy="957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3215680" y="274638"/>
            <a:ext cx="6995120" cy="63408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ru-RU" sz="2800" b="1" dirty="0">
                <a:solidFill>
                  <a:schemeClr val="accent2"/>
                </a:solidFill>
              </a:rPr>
              <a:t>Проектирование модуля </a:t>
            </a:r>
            <a:r>
              <a:rPr lang="ru-RU" sz="2800" b="1" dirty="0">
                <a:solidFill>
                  <a:schemeClr val="accent2"/>
                </a:solidFill>
              </a:rPr>
              <a:t>«Публикация и настройка сайта»</a:t>
            </a:r>
            <a:endParaRPr lang="ru-RU" sz="2800" b="1" dirty="0">
              <a:solidFill>
                <a:schemeClr val="accent2"/>
              </a:solidFill>
            </a:endParaRPr>
          </a:p>
        </p:txBody>
      </p:sp>
      <p:sp>
        <p:nvSpPr>
          <p:cNvPr id="9" name="Заголовок 1"/>
          <p:cNvSpPr txBox="1">
            <a:spLocks/>
          </p:cNvSpPr>
          <p:nvPr/>
        </p:nvSpPr>
        <p:spPr>
          <a:xfrm>
            <a:off x="733794" y="5476463"/>
            <a:ext cx="326258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</a:t>
            </a: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последовательности</a:t>
            </a:r>
          </a:p>
        </p:txBody>
      </p:sp>
      <p:sp>
        <p:nvSpPr>
          <p:cNvPr id="11" name="Заголовок 1"/>
          <p:cNvSpPr txBox="1">
            <a:spLocks/>
          </p:cNvSpPr>
          <p:nvPr/>
        </p:nvSpPr>
        <p:spPr>
          <a:xfrm>
            <a:off x="4593990" y="5460286"/>
            <a:ext cx="30812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</a:t>
            </a: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деятельности</a:t>
            </a:r>
          </a:p>
        </p:txBody>
      </p:sp>
      <p:sp>
        <p:nvSpPr>
          <p:cNvPr id="13" name="Заголовок 1"/>
          <p:cNvSpPr txBox="1">
            <a:spLocks/>
          </p:cNvSpPr>
          <p:nvPr/>
        </p:nvSpPr>
        <p:spPr>
          <a:xfrm>
            <a:off x="8976833" y="1664076"/>
            <a:ext cx="414034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</a:t>
            </a: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коммуникации</a:t>
            </a:r>
          </a:p>
        </p:txBody>
      </p:sp>
      <p:sp>
        <p:nvSpPr>
          <p:cNvPr id="15" name="Заголовок 1"/>
          <p:cNvSpPr txBox="1">
            <a:spLocks/>
          </p:cNvSpPr>
          <p:nvPr/>
        </p:nvSpPr>
        <p:spPr>
          <a:xfrm>
            <a:off x="5789207" y="454367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</a:t>
            </a:r>
          </a:p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состояний</a:t>
            </a:r>
          </a:p>
        </p:txBody>
      </p:sp>
      <p:pic>
        <p:nvPicPr>
          <p:cNvPr id="16" name="Рисунок 15"/>
          <p:cNvPicPr/>
          <p:nvPr/>
        </p:nvPicPr>
        <p:blipFill>
          <a:blip r:embed="rId3"/>
          <a:stretch>
            <a:fillRect/>
          </a:stretch>
        </p:blipFill>
        <p:spPr>
          <a:xfrm>
            <a:off x="4984870" y="1664076"/>
            <a:ext cx="2302238" cy="3981761"/>
          </a:xfrm>
          <a:prstGeom prst="rect">
            <a:avLst/>
          </a:prstGeom>
        </p:spPr>
      </p:pic>
      <p:pic>
        <p:nvPicPr>
          <p:cNvPr id="17" name="Рисунок 16"/>
          <p:cNvPicPr/>
          <p:nvPr/>
        </p:nvPicPr>
        <p:blipFill>
          <a:blip r:embed="rId4"/>
          <a:stretch>
            <a:fillRect/>
          </a:stretch>
        </p:blipFill>
        <p:spPr>
          <a:xfrm>
            <a:off x="213849" y="2200787"/>
            <a:ext cx="4380141" cy="3383207"/>
          </a:xfrm>
          <a:prstGeom prst="rect">
            <a:avLst/>
          </a:prstGeom>
        </p:spPr>
      </p:pic>
      <p:pic>
        <p:nvPicPr>
          <p:cNvPr id="18" name="Рисунок 17"/>
          <p:cNvPicPr/>
          <p:nvPr/>
        </p:nvPicPr>
        <p:blipFill>
          <a:blip r:embed="rId5"/>
          <a:stretch>
            <a:fillRect/>
          </a:stretch>
        </p:blipFill>
        <p:spPr>
          <a:xfrm>
            <a:off x="7716804" y="1153942"/>
            <a:ext cx="1917281" cy="2767439"/>
          </a:xfrm>
          <a:prstGeom prst="rect">
            <a:avLst/>
          </a:prstGeom>
        </p:spPr>
      </p:pic>
      <p:pic>
        <p:nvPicPr>
          <p:cNvPr id="19" name="Рисунок 18"/>
          <p:cNvPicPr/>
          <p:nvPr/>
        </p:nvPicPr>
        <p:blipFill>
          <a:blip r:embed="rId6"/>
          <a:stretch>
            <a:fillRect/>
          </a:stretch>
        </p:blipFill>
        <p:spPr>
          <a:xfrm>
            <a:off x="7683500" y="4028019"/>
            <a:ext cx="1983888" cy="2724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5359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513" y="182962"/>
            <a:ext cx="1224136" cy="957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3215680" y="274638"/>
            <a:ext cx="6995120" cy="63408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ru-RU" sz="2800" b="1" dirty="0" smtClean="0">
                <a:solidFill>
                  <a:schemeClr val="accent2"/>
                </a:solidFill>
              </a:rPr>
              <a:t>Разработка </a:t>
            </a:r>
            <a:r>
              <a:rPr lang="ru-RU" sz="2800" b="1" dirty="0">
                <a:solidFill>
                  <a:schemeClr val="accent2"/>
                </a:solidFill>
              </a:rPr>
              <a:t>модуля «Публикация и настройка сайта»</a:t>
            </a:r>
            <a:endParaRPr lang="ru-RU" sz="2800" b="1" dirty="0">
              <a:solidFill>
                <a:schemeClr val="accent2"/>
              </a:solidFill>
            </a:endParaRPr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335360" y="1412776"/>
            <a:ext cx="6208450" cy="20825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соответствии с разработанными требованиями и диаграммами для данного модуля была реализована публикация сайта с использованием инструментов: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Nginx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Ngrok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/>
          <p:cNvPicPr/>
          <p:nvPr/>
        </p:nvPicPr>
        <p:blipFill>
          <a:blip r:embed="rId3"/>
          <a:stretch>
            <a:fillRect/>
          </a:stretch>
        </p:blipFill>
        <p:spPr>
          <a:xfrm>
            <a:off x="7841898" y="945937"/>
            <a:ext cx="3397664" cy="2549392"/>
          </a:xfrm>
          <a:prstGeom prst="rect">
            <a:avLst/>
          </a:prstGeom>
        </p:spPr>
      </p:pic>
      <p:sp>
        <p:nvSpPr>
          <p:cNvPr id="10" name="Заголовок 1"/>
          <p:cNvSpPr txBox="1">
            <a:spLocks/>
          </p:cNvSpPr>
          <p:nvPr/>
        </p:nvSpPr>
        <p:spPr>
          <a:xfrm>
            <a:off x="8000130" y="3308927"/>
            <a:ext cx="30812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Успешная сборка контейнера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Рисунок 10"/>
          <p:cNvPicPr/>
          <p:nvPr/>
        </p:nvPicPr>
        <p:blipFill>
          <a:blip r:embed="rId4"/>
          <a:stretch>
            <a:fillRect/>
          </a:stretch>
        </p:blipFill>
        <p:spPr>
          <a:xfrm>
            <a:off x="596055" y="3666010"/>
            <a:ext cx="5687060" cy="666750"/>
          </a:xfrm>
          <a:prstGeom prst="rect">
            <a:avLst/>
          </a:prstGeom>
        </p:spPr>
      </p:pic>
      <p:sp>
        <p:nvSpPr>
          <p:cNvPr id="12" name="Заголовок 1"/>
          <p:cNvSpPr txBox="1">
            <a:spLocks/>
          </p:cNvSpPr>
          <p:nvPr/>
        </p:nvSpPr>
        <p:spPr>
          <a:xfrm>
            <a:off x="1703513" y="4017602"/>
            <a:ext cx="30812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Запуск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онтейнера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Рисунок 12"/>
          <p:cNvPicPr/>
          <p:nvPr/>
        </p:nvPicPr>
        <p:blipFill>
          <a:blip r:embed="rId5"/>
          <a:stretch>
            <a:fillRect/>
          </a:stretch>
        </p:blipFill>
        <p:spPr>
          <a:xfrm>
            <a:off x="7711930" y="4332760"/>
            <a:ext cx="3657600" cy="1903730"/>
          </a:xfrm>
          <a:prstGeom prst="rect">
            <a:avLst/>
          </a:prstGeom>
        </p:spPr>
      </p:pic>
      <p:sp>
        <p:nvSpPr>
          <p:cNvPr id="14" name="Заголовок 1"/>
          <p:cNvSpPr txBox="1">
            <a:spLocks/>
          </p:cNvSpPr>
          <p:nvPr/>
        </p:nvSpPr>
        <p:spPr>
          <a:xfrm>
            <a:off x="8000130" y="5858319"/>
            <a:ext cx="30812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Запуск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Ngrok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310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513" y="182962"/>
            <a:ext cx="1224136" cy="957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3215680" y="274638"/>
            <a:ext cx="6995120" cy="634082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ru-RU" sz="2800" b="1" dirty="0">
                <a:solidFill>
                  <a:schemeClr val="accent2"/>
                </a:solidFill>
              </a:rPr>
              <a:t>Тестирование модуля </a:t>
            </a:r>
            <a:r>
              <a:rPr lang="ru-RU" sz="2800" b="1" dirty="0">
                <a:solidFill>
                  <a:schemeClr val="accent2"/>
                </a:solidFill>
              </a:rPr>
              <a:t>«Публикация и настройка сайта»</a:t>
            </a:r>
            <a:endParaRPr lang="ru-RU" sz="2800" b="1" dirty="0">
              <a:solidFill>
                <a:schemeClr val="accent2"/>
              </a:solidFill>
            </a:endParaRPr>
          </a:p>
        </p:txBody>
      </p:sp>
      <p:pic>
        <p:nvPicPr>
          <p:cNvPr id="8" name="Рисунок 7"/>
          <p:cNvPicPr/>
          <p:nvPr/>
        </p:nvPicPr>
        <p:blipFill>
          <a:blip r:embed="rId3"/>
          <a:stretch>
            <a:fillRect/>
          </a:stretch>
        </p:blipFill>
        <p:spPr>
          <a:xfrm>
            <a:off x="263352" y="1408309"/>
            <a:ext cx="6659375" cy="4840907"/>
          </a:xfrm>
          <a:prstGeom prst="rect">
            <a:avLst/>
          </a:prstGeom>
        </p:spPr>
      </p:pic>
      <p:sp>
        <p:nvSpPr>
          <p:cNvPr id="9" name="Заголовок 1"/>
          <p:cNvSpPr txBox="1">
            <a:spLocks/>
          </p:cNvSpPr>
          <p:nvPr/>
        </p:nvSpPr>
        <p:spPr>
          <a:xfrm>
            <a:off x="7133842" y="2503200"/>
            <a:ext cx="486511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Было проведено 20 юнит-тестов для «Тестирование» и ручное тестирование. </a:t>
            </a:r>
          </a:p>
          <a:p>
            <a:pPr algn="just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целом Тестирование готов к эксплуатации и соответствует предъявляемым требованиям.</a:t>
            </a:r>
          </a:p>
        </p:txBody>
      </p:sp>
    </p:spTree>
    <p:extLst>
      <p:ext uri="{BB962C8B-B14F-4D97-AF65-F5344CB8AC3E}">
        <p14:creationId xmlns:p14="http://schemas.microsoft.com/office/powerpoint/2010/main" val="11810367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513" y="182962"/>
            <a:ext cx="1224136" cy="957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3215680" y="274638"/>
            <a:ext cx="6995120" cy="63408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800" b="1" dirty="0">
                <a:solidFill>
                  <a:schemeClr val="accent2"/>
                </a:solidFill>
              </a:rPr>
              <a:t>Организация реализации проекта</a:t>
            </a:r>
          </a:p>
        </p:txBody>
      </p:sp>
      <p:sp>
        <p:nvSpPr>
          <p:cNvPr id="8" name="Объект 2"/>
          <p:cNvSpPr>
            <a:spLocks noGrp="1"/>
          </p:cNvSpPr>
          <p:nvPr>
            <p:ph idx="1"/>
          </p:nvPr>
        </p:nvSpPr>
        <p:spPr>
          <a:xfrm>
            <a:off x="551384" y="1245314"/>
            <a:ext cx="5652655" cy="340051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Вспомогательные инструменты: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Система контроля версий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Использование технологии CI/CD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Django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Канбан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доска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Yozhka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Объект 2"/>
          <p:cNvSpPr txBox="1">
            <a:spLocks/>
          </p:cNvSpPr>
          <p:nvPr/>
        </p:nvSpPr>
        <p:spPr>
          <a:xfrm>
            <a:off x="6393650" y="6363337"/>
            <a:ext cx="5037513" cy="911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История изменений задачи «Создание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ТЗ»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Объект 2"/>
          <p:cNvSpPr txBox="1">
            <a:spLocks/>
          </p:cNvSpPr>
          <p:nvPr/>
        </p:nvSpPr>
        <p:spPr>
          <a:xfrm>
            <a:off x="223312" y="6350333"/>
            <a:ext cx="5818695" cy="10153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Канбан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доска</a:t>
            </a:r>
          </a:p>
        </p:txBody>
      </p:sp>
      <p:pic>
        <p:nvPicPr>
          <p:cNvPr id="15" name="Рисунок 14"/>
          <p:cNvPicPr/>
          <p:nvPr/>
        </p:nvPicPr>
        <p:blipFill>
          <a:blip r:embed="rId3"/>
          <a:stretch>
            <a:fillRect/>
          </a:stretch>
        </p:blipFill>
        <p:spPr>
          <a:xfrm>
            <a:off x="6816080" y="4099213"/>
            <a:ext cx="4085691" cy="2251120"/>
          </a:xfrm>
          <a:prstGeom prst="rect">
            <a:avLst/>
          </a:prstGeom>
        </p:spPr>
      </p:pic>
      <p:pic>
        <p:nvPicPr>
          <p:cNvPr id="16" name="Рисунок 15"/>
          <p:cNvPicPr/>
          <p:nvPr/>
        </p:nvPicPr>
        <p:blipFill>
          <a:blip r:embed="rId4"/>
          <a:stretch>
            <a:fillRect/>
          </a:stretch>
        </p:blipFill>
        <p:spPr>
          <a:xfrm>
            <a:off x="1567744" y="3092687"/>
            <a:ext cx="3129830" cy="3257646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1199" y="908720"/>
            <a:ext cx="3032849" cy="2752102"/>
          </a:xfrm>
          <a:prstGeom prst="rect">
            <a:avLst/>
          </a:prstGeom>
        </p:spPr>
      </p:pic>
      <p:sp>
        <p:nvSpPr>
          <p:cNvPr id="17" name="Объект 2"/>
          <p:cNvSpPr txBox="1">
            <a:spLocks/>
          </p:cNvSpPr>
          <p:nvPr/>
        </p:nvSpPr>
        <p:spPr>
          <a:xfrm>
            <a:off x="6393650" y="3681992"/>
            <a:ext cx="5037513" cy="9116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Action GitHub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7086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513" y="182962"/>
            <a:ext cx="1224136" cy="9572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2742456" y="324903"/>
            <a:ext cx="6995120" cy="63408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800" b="1" dirty="0">
                <a:solidFill>
                  <a:schemeClr val="accent2"/>
                </a:solidFill>
              </a:rPr>
              <a:t>Заключение </a:t>
            </a:r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1055440" y="1484785"/>
            <a:ext cx="10585176" cy="4525963"/>
          </a:xfrm>
        </p:spPr>
        <p:txBody>
          <a:bodyPr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ru-RU" sz="2400" dirty="0"/>
              <a:t>В ходе практики были выполнены поставленные задачи.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ru-RU" sz="2400" dirty="0"/>
              <a:t>Во время практики были проведены работы, которые соответствовали профессиональным и общим компетенциям, что предоставило опыт для дальнейшей деятельности и роста в профессиональной сфере.</a:t>
            </a:r>
          </a:p>
        </p:txBody>
      </p:sp>
    </p:spTree>
    <p:extLst>
      <p:ext uri="{BB962C8B-B14F-4D97-AF65-F5344CB8AC3E}">
        <p14:creationId xmlns:p14="http://schemas.microsoft.com/office/powerpoint/2010/main" val="151580298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праведливость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Другая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787</TotalTime>
  <Words>1040</Words>
  <Application>Microsoft Office PowerPoint</Application>
  <PresentationFormat>Широкоэкранный</PresentationFormat>
  <Paragraphs>176</Paragraphs>
  <Slides>27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2" baseType="lpstr">
      <vt:lpstr>Arial</vt:lpstr>
      <vt:lpstr>Calibri</vt:lpstr>
      <vt:lpstr>Consolas</vt:lpstr>
      <vt:lpstr>Times New Roman</vt:lpstr>
      <vt:lpstr>Тема Office</vt:lpstr>
      <vt:lpstr>ПМ. 02 Осуществление интеграции программных модулей</vt:lpstr>
      <vt:lpstr>АКТУАЛЬНОСТЬ</vt:lpstr>
      <vt:lpstr>ЦЕЛЬ И ЗАДАЧИ</vt:lpstr>
      <vt:lpstr>ОБЪЕКТ, ПРЕДМЕТ И МЕТОДЫ ИССЛЕДОВАНИЯ</vt:lpstr>
      <vt:lpstr>Предприятие и его анализ</vt:lpstr>
      <vt:lpstr>Анализ и описание проекта</vt:lpstr>
      <vt:lpstr>Модули системы</vt:lpstr>
      <vt:lpstr>Плановая документация</vt:lpstr>
      <vt:lpstr>Плановая документация</vt:lpstr>
      <vt:lpstr>Разработка и создание базы данных</vt:lpstr>
      <vt:lpstr>Проектирование модуля «Авторизация и регистрация»</vt:lpstr>
      <vt:lpstr>Разработка модуля «Авторизация и регистрация»</vt:lpstr>
      <vt:lpstr>Тестирование модуля «Авторизация и регистрация»</vt:lpstr>
      <vt:lpstr>Проектирование «Дизайн интерфейса системы»</vt:lpstr>
      <vt:lpstr>Разработка модуля «Интерфейса пользователя»</vt:lpstr>
      <vt:lpstr>Тестирование модуля «Интерфейса пользователя»</vt:lpstr>
      <vt:lpstr>Проектирование модуля «Интерфейс администратора»</vt:lpstr>
      <vt:lpstr>Разработка модуля «Интерфейс администратора»</vt:lpstr>
      <vt:lpstr>Тестирование модуля «Интерфейс администратора»</vt:lpstr>
      <vt:lpstr>Проектирование модуля «Работа с документами»</vt:lpstr>
      <vt:lpstr>Разработка модуля «Работа с документами»</vt:lpstr>
      <vt:lpstr>Тестирование модуля «Работа с документами»</vt:lpstr>
      <vt:lpstr>Проектирование модуля «Публикация и настройка сайта»</vt:lpstr>
      <vt:lpstr>Разработка модуля «Публикация и настройка сайта»</vt:lpstr>
      <vt:lpstr>Тестирование модуля «Публикация и настройка сайта»</vt:lpstr>
      <vt:lpstr>Организация реализации проекта</vt:lpstr>
      <vt:lpstr>Заключение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rerazin</cp:lastModifiedBy>
  <cp:revision>73</cp:revision>
  <dcterms:created xsi:type="dcterms:W3CDTF">2019-05-16T05:43:42Z</dcterms:created>
  <dcterms:modified xsi:type="dcterms:W3CDTF">2026-06-30T17:41:23Z</dcterms:modified>
</cp:coreProperties>
</file>